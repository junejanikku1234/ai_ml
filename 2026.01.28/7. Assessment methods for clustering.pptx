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93" r:id="rId3"/>
    <p:sldId id="296" r:id="rId4"/>
    <p:sldId id="297" r:id="rId5"/>
    <p:sldId id="298" r:id="rId6"/>
    <p:sldId id="3359" r:id="rId7"/>
    <p:sldId id="33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1450"/>
  </p:normalViewPr>
  <p:slideViewPr>
    <p:cSldViewPr snapToGrid="0">
      <p:cViewPr varScale="1">
        <p:scale>
          <a:sx n="116" d="100"/>
          <a:sy n="116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63F404-3DDF-DA27-FEFF-4949615B0E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B2377B-75B1-BAED-CFAB-E03777E7C1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96A8C-5998-4042-BB5B-D011D3371025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262DC-7B0E-1F5F-113F-41E3436FBB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2D43C-404B-D2AA-999E-D6E237F3DD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B41D1-51DF-8A4C-9AC2-A837CD8E0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391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DA657-14AC-4465-A7BF-979D9BE9765B}" type="datetimeFigureOut">
              <a:rPr lang="en-IN" smtClean="0"/>
              <a:t>27/01/26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D391A-B446-43F9-8E6B-FF21B92D8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57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C64D-FBFC-D0F6-6135-9006AF573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A7C45-D7B4-8295-677D-6FD1BEB98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72CD-8301-24C3-178D-DCF3A3134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887AD-1A4D-1077-844B-23AA2DD4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AE7F6-54A8-809B-46B0-CAF20CA5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06146378-D586-278C-818A-EFAE61605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9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0FE5-56C1-C2C5-E89A-9E41E755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FE23-8D32-E341-62C6-9177653A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34A5-CDCE-7D22-6952-07E6FB05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51326-72B5-9602-1E62-6BBD9196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3EC9A-44D5-86A7-19D5-71A5F2D3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5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C623-EFD4-CBF2-836B-278A1FFF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7FB97-D0F0-F144-C26C-B485CD2D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935B-13E4-643C-0BBD-EAB19BF1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9C0B0-61F2-039D-7C11-AB370281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FDB2-C7BC-21C3-BBF2-F35A21C0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A0CA-2E5B-BA80-44A2-02C17A66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BA96A-27B5-D643-D2D0-8308D6E89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6ED4D-1E20-D3FE-6AAA-0362101A0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E5A4A-E56E-34E4-FD22-C02AD79A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6E4F5-17CA-E1C4-0528-B078B39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C2C5D-2D51-A52D-D126-55204074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4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A17FB-E27E-E139-4E58-CD44CAF2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3AF5-E90D-9C08-7801-9FE8593A0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01A8A-2A8F-A333-A6E7-27A9190E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03A8B-631E-254D-13FF-33902D120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039E6-216F-246D-21EA-493B8C061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C24D6-D676-AC97-61B6-6E83C41C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36A2C-63F1-CC3A-6450-95C0B728A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19383-6E57-D179-DB08-C336A211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7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45B0-5507-E9C6-5D0A-7194B31F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8C074-1E6D-BE11-9786-3E65B882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62ECF-1078-DB98-D126-61392595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9152C-F0C0-9D16-8BDD-AA5732C3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3E6D3-40A6-7E3B-5960-A66CBE3C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0AAA1-08FA-5D91-69B1-3F605923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0425-8E61-1524-E46F-6FBCD449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79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AE46-203E-3D5C-090F-7FE35A09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B2ED-2007-E390-FBD4-F5BD71B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A9767-7DBC-4065-FB99-C6E71FB8F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2A45A-6F80-624D-5089-144C17E6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E1F73-D189-E848-7502-52A3036B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CE0F1-44C6-B090-CBC4-297E3EF6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4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4768-54F4-C8C6-B784-F2FC1082C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E2EE3-968C-FB78-2A8F-A134A4E4E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B5117-3E1B-2130-E1EA-451B86E6E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CF779-296F-5FCC-3334-A673259F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141BB-EC98-5A55-D6D8-65A54A3AF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F6932-0BF8-BB01-649A-68D4C335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31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97D3-30D4-4EF1-BBC2-E45C22B3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DD437-4486-8D37-C693-7C329FC66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61A51-0838-1F37-ECDD-38CD4086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BDF75-7558-323B-F485-3E73AF5F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0449-580B-C5B5-4FCB-8A529457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6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662B4-F0B8-29CC-571A-396BF2EC1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152F-755A-607D-F8A4-9FF1B386A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1C2B1-6B79-B4DB-A6CC-9797C836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BE395-9F05-4252-17D2-BEFAB3E7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F18C0-A939-0830-9AC1-F4319FAE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D7863-D969-AF3E-50B2-4F1D857F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68653-AB94-AED3-24F5-CD343B762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DA29-9882-528A-9740-8BF9841FE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1127A-E621-7A4F-9B95-4D1F7A0A40F8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E02AA-88AE-982B-D44A-BAC6F089C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AAB4-7643-ADA8-48C0-209E3EDD5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56530-8832-C94F-9436-CB5E8B7194D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42B2649B-1319-D276-F7C5-C58DF4B9010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  <p:pic>
        <p:nvPicPr>
          <p:cNvPr id="14" name="Picture 13" descr="A logo with text on it&#10;&#10;Description automatically generated">
            <a:extLst>
              <a:ext uri="{FF2B5EF4-FFF2-40B4-BE49-F238E27FC236}">
                <a16:creationId xmlns:a16="http://schemas.microsoft.com/office/drawing/2014/main" id="{B52A007F-CB24-A9D0-6429-B4FA367B57B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11346" b="18198"/>
          <a:stretch/>
        </p:blipFill>
        <p:spPr>
          <a:xfrm>
            <a:off x="10332524" y="135564"/>
            <a:ext cx="1714601" cy="1208030"/>
          </a:xfrm>
          <a:prstGeom prst="rect">
            <a:avLst/>
          </a:prstGeom>
        </p:spPr>
      </p:pic>
      <p:pic>
        <p:nvPicPr>
          <p:cNvPr id="15" name="Picture 14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CBADE597-FB06-9B8B-68C8-BFA89221A0E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9D9E8D1-F6C9-EB2C-DD27-D047561C3F3C}"/>
              </a:ext>
            </a:extLst>
          </p:cNvPr>
          <p:cNvGrpSpPr/>
          <p:nvPr userDrawn="1"/>
        </p:nvGrpSpPr>
        <p:grpSpPr>
          <a:xfrm>
            <a:off x="9485964" y="5572125"/>
            <a:ext cx="2502372" cy="959553"/>
            <a:chOff x="3452776" y="3314721"/>
            <a:chExt cx="4443470" cy="170388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24FEBE4-915F-8056-1156-7F5ABB9E78DB}"/>
                </a:ext>
              </a:extLst>
            </p:cNvPr>
            <p:cNvGrpSpPr/>
            <p:nvPr/>
          </p:nvGrpSpPr>
          <p:grpSpPr>
            <a:xfrm>
              <a:off x="3452776" y="3314721"/>
              <a:ext cx="4443470" cy="1703882"/>
              <a:chOff x="3452775" y="3429000"/>
              <a:chExt cx="6135571" cy="2352731"/>
            </a:xfrm>
          </p:grpSpPr>
          <p:pic>
            <p:nvPicPr>
              <p:cNvPr id="19" name="Picture 18" descr="A hexagon with a letter a and a red ribbon&#10;&#10;Description automatically generated">
                <a:extLst>
                  <a:ext uri="{FF2B5EF4-FFF2-40B4-BE49-F238E27FC236}">
                    <a16:creationId xmlns:a16="http://schemas.microsoft.com/office/drawing/2014/main" id="{3A05AF82-33BC-2B06-5620-E11F0AD31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35615" y="3429000"/>
                <a:ext cx="2352731" cy="2352731"/>
              </a:xfrm>
              <a:prstGeom prst="rect">
                <a:avLst/>
              </a:prstGeom>
            </p:spPr>
          </p:pic>
          <p:pic>
            <p:nvPicPr>
              <p:cNvPr id="20" name="Picture 19" descr="A logo with a fireworks in the middle&#10;&#10;Description automatically generated">
                <a:extLst>
                  <a:ext uri="{FF2B5EF4-FFF2-40B4-BE49-F238E27FC236}">
                    <a16:creationId xmlns:a16="http://schemas.microsoft.com/office/drawing/2014/main" id="{332D25E3-F8F9-CC33-D18F-2FCD31165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t="22718" b="27841"/>
              <a:stretch/>
            </p:blipFill>
            <p:spPr>
              <a:xfrm>
                <a:off x="3452775" y="3819612"/>
                <a:ext cx="3543338" cy="1751840"/>
              </a:xfrm>
              <a:prstGeom prst="rect">
                <a:avLst/>
              </a:prstGeom>
            </p:spPr>
          </p:pic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CB6500-B983-38B3-2B17-3A47CD38EA0A}"/>
                </a:ext>
              </a:extLst>
            </p:cNvPr>
            <p:cNvCxnSpPr/>
            <p:nvPr/>
          </p:nvCxnSpPr>
          <p:spPr>
            <a:xfrm>
              <a:off x="6043616" y="3729076"/>
              <a:ext cx="0" cy="871499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287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7761-4CDC-E301-0DF9-B900188E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uilding with a triangular roof&#10;&#10;Description automatically generated">
            <a:extLst>
              <a:ext uri="{FF2B5EF4-FFF2-40B4-BE49-F238E27FC236}">
                <a16:creationId xmlns:a16="http://schemas.microsoft.com/office/drawing/2014/main" id="{759FD83A-0685-3B26-16C9-CD85810090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665" b="18180"/>
          <a:stretch/>
        </p:blipFill>
        <p:spPr>
          <a:xfrm>
            <a:off x="5248405" y="2458484"/>
            <a:ext cx="7139835" cy="2415907"/>
          </a:xfrm>
          <a:prstGeom prst="rect">
            <a:avLst/>
          </a:prstGeom>
        </p:spPr>
      </p:pic>
      <p:pic>
        <p:nvPicPr>
          <p:cNvPr id="4" name="Picture 3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0E530F31-0346-02A9-89D4-DD3810B079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  <p:pic>
        <p:nvPicPr>
          <p:cNvPr id="2" name="Picture 1" descr="A building with palm trees and a black background&#10;&#10;Description automatically generated">
            <a:extLst>
              <a:ext uri="{FF2B5EF4-FFF2-40B4-BE49-F238E27FC236}">
                <a16:creationId xmlns:a16="http://schemas.microsoft.com/office/drawing/2014/main" id="{A87918A0-5DE8-740C-8B5C-D2B1EEB625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9804"/>
          <a:stretch/>
        </p:blipFill>
        <p:spPr>
          <a:xfrm>
            <a:off x="64993" y="-38"/>
            <a:ext cx="4900756" cy="6858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F273F9-9E83-290B-07C8-270570099715}"/>
              </a:ext>
            </a:extLst>
          </p:cNvPr>
          <p:cNvSpPr txBox="1"/>
          <p:nvPr/>
        </p:nvSpPr>
        <p:spPr>
          <a:xfrm>
            <a:off x="4708574" y="1950614"/>
            <a:ext cx="5300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of clustering</a:t>
            </a:r>
          </a:p>
        </p:txBody>
      </p:sp>
      <p:pic>
        <p:nvPicPr>
          <p:cNvPr id="11" name="Golden-Hour-chosic.com_">
            <a:hlinkClick r:id="" action="ppaction://media"/>
            <a:extLst>
              <a:ext uri="{FF2B5EF4-FFF2-40B4-BE49-F238E27FC236}">
                <a16:creationId xmlns:a16="http://schemas.microsoft.com/office/drawing/2014/main" id="{617958E6-276C-B236-7E24-C5FBBBB52F1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91772.3076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872686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7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Silhouette Coefficient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endParaRPr lang="en-IN" sz="2400" i="1" dirty="0">
              <a:solidFill>
                <a:schemeClr val="tx1"/>
              </a:solidFill>
            </a:endParaRPr>
          </a:p>
          <a:p>
            <a:r>
              <a:rPr lang="en-IN" dirty="0"/>
              <a:t>The SC is calculated by the following formula: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lvl="1"/>
            <a:endParaRPr lang="en-IN" sz="2800" dirty="0">
              <a:solidFill>
                <a:schemeClr val="tx1"/>
              </a:solidFill>
              <a:latin typeface="Calibri" pitchFamily="34" charset="0"/>
            </a:endParaRPr>
          </a:p>
          <a:p>
            <a:pPr lvl="1"/>
            <a:endParaRPr lang="en-IN" sz="2800" dirty="0">
              <a:solidFill>
                <a:schemeClr val="tx1"/>
              </a:solidFill>
              <a:latin typeface="Calibri" pitchFamily="34" charset="0"/>
            </a:endParaRPr>
          </a:p>
          <a:p>
            <a:r>
              <a:rPr lang="en-IN" dirty="0"/>
              <a:t>where </a:t>
            </a:r>
            <a:r>
              <a:rPr lang="en-IN" i="1" dirty="0"/>
              <a:t>a(i)</a:t>
            </a:r>
            <a:r>
              <a:rPr lang="en-IN" dirty="0"/>
              <a:t> is the average distance of point </a:t>
            </a:r>
            <a:r>
              <a:rPr lang="en-IN" i="1" dirty="0"/>
              <a:t>i</a:t>
            </a:r>
            <a:r>
              <a:rPr lang="en-IN" dirty="0"/>
              <a:t> from all other points in its cluster (intra cluster)</a:t>
            </a:r>
          </a:p>
          <a:p>
            <a:r>
              <a:rPr lang="en-IN" i="1" dirty="0"/>
              <a:t>b(i)</a:t>
            </a:r>
            <a:r>
              <a:rPr lang="en-IN" dirty="0"/>
              <a:t> </a:t>
            </a:r>
            <a:r>
              <a:rPr lang="en-US" dirty="0"/>
              <a:t>average inter-cluster distance </a:t>
            </a:r>
            <a:r>
              <a:rPr lang="en-US" dirty="0" err="1"/>
              <a:t>i.e</a:t>
            </a:r>
            <a:r>
              <a:rPr lang="en-US" dirty="0"/>
              <a:t> the average distance between all clusters.</a:t>
            </a:r>
            <a:endParaRPr lang="en-IN" dirty="0"/>
          </a:p>
          <a:p>
            <a:r>
              <a:rPr lang="en-IN" dirty="0"/>
              <a:t>The Silhouette Coefficient tells us how well-assigned each individual point is.</a:t>
            </a:r>
          </a:p>
          <a:p>
            <a:r>
              <a:rPr lang="en-IN" dirty="0"/>
              <a:t>If </a:t>
            </a:r>
            <a:r>
              <a:rPr lang="en-IN" i="1" dirty="0"/>
              <a:t>S(i)</a:t>
            </a:r>
            <a:r>
              <a:rPr lang="en-IN" dirty="0"/>
              <a:t> is close to 0, </a:t>
            </a:r>
            <a:r>
              <a:rPr lang="en-US" dirty="0"/>
              <a:t>indicates clusters are indifferent, or we can say that the distance between clusters is not significant.</a:t>
            </a:r>
            <a:endParaRPr lang="en-IN" dirty="0"/>
          </a:p>
          <a:p>
            <a:r>
              <a:rPr lang="en-IN" dirty="0"/>
              <a:t>If it is closer to -1, </a:t>
            </a:r>
            <a:r>
              <a:rPr lang="en-US" dirty="0"/>
              <a:t>indicates clusters are assigned in the wrong way.</a:t>
            </a:r>
            <a:endParaRPr lang="en-IN" dirty="0"/>
          </a:p>
          <a:p>
            <a:r>
              <a:rPr lang="en-IN" dirty="0"/>
              <a:t>If </a:t>
            </a:r>
            <a:r>
              <a:rPr lang="en-IN" i="1" dirty="0"/>
              <a:t>S(i)</a:t>
            </a:r>
            <a:r>
              <a:rPr lang="en-IN" dirty="0"/>
              <a:t> is close to 1, </a:t>
            </a:r>
            <a:r>
              <a:rPr lang="en-US" dirty="0"/>
              <a:t>indicates clusters are well apart from each other and clearly distinguished.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endParaRPr lang="en-IN" sz="2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3B4B-36E0-40EA-BD24-5FA98D4B3C74}" type="slidenum">
              <a:rPr lang="en-SG" smtClean="0"/>
              <a:pPr/>
              <a:t>2</a:t>
            </a:fld>
            <a:endParaRPr lang="en-SG" dirty="0"/>
          </a:p>
        </p:txBody>
      </p:sp>
      <p:pic>
        <p:nvPicPr>
          <p:cNvPr id="6" name="Picture 5" descr="Image for pos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984" y="2364871"/>
            <a:ext cx="2857500" cy="883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4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seaborn</a:t>
            </a:r>
            <a:r>
              <a:rPr lang="en-US" dirty="0"/>
              <a:t> as </a:t>
            </a:r>
            <a:r>
              <a:rPr lang="en-US" dirty="0" err="1"/>
              <a:t>sns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sklearn.cluster</a:t>
            </a:r>
            <a:r>
              <a:rPr lang="en-US" dirty="0"/>
              <a:t> import </a:t>
            </a:r>
            <a:r>
              <a:rPr lang="en-US" dirty="0" err="1"/>
              <a:t>KMeans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silhouette_score</a:t>
            </a:r>
            <a:br>
              <a:rPr lang="en-US" dirty="0"/>
            </a:br>
            <a:r>
              <a:rPr lang="en-US" dirty="0"/>
              <a:t>%</a:t>
            </a:r>
            <a:r>
              <a:rPr lang="en-US" dirty="0" err="1"/>
              <a:t>matplotlib</a:t>
            </a:r>
            <a:r>
              <a:rPr lang="en-US" dirty="0"/>
              <a:t> inline</a:t>
            </a:r>
          </a:p>
          <a:p>
            <a:pPr marL="0" indent="0">
              <a:buNone/>
            </a:pPr>
            <a:r>
              <a:rPr lang="en-US" b="1" dirty="0"/>
              <a:t>#Generating some random data: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 run clustering algorithm we are generating 100 random points.</a:t>
            </a:r>
          </a:p>
          <a:p>
            <a:pPr marL="0" indent="0">
              <a:buNone/>
            </a:pPr>
            <a:r>
              <a:rPr lang="en-US" dirty="0"/>
              <a:t>X= </a:t>
            </a:r>
            <a:r>
              <a:rPr lang="en-US" dirty="0" err="1"/>
              <a:t>np.random.rand</a:t>
            </a:r>
            <a:r>
              <a:rPr lang="en-US" dirty="0"/>
              <a:t>(50,2)</a:t>
            </a:r>
            <a:br>
              <a:rPr lang="en-US" dirty="0"/>
            </a:br>
            <a:r>
              <a:rPr lang="en-US" dirty="0"/>
              <a:t>Y= 2 + </a:t>
            </a:r>
            <a:r>
              <a:rPr lang="en-US" dirty="0" err="1"/>
              <a:t>np.random.rand</a:t>
            </a:r>
            <a:r>
              <a:rPr lang="en-US" dirty="0"/>
              <a:t>(50,2)</a:t>
            </a:r>
            <a:br>
              <a:rPr lang="en-US" dirty="0"/>
            </a:br>
            <a:r>
              <a:rPr lang="en-US" dirty="0"/>
              <a:t>Z= </a:t>
            </a:r>
            <a:r>
              <a:rPr lang="en-US" dirty="0" err="1"/>
              <a:t>np.concatenate</a:t>
            </a:r>
            <a:r>
              <a:rPr lang="en-US" dirty="0"/>
              <a:t>((X,Y))</a:t>
            </a:r>
            <a:br>
              <a:rPr lang="en-US" dirty="0"/>
            </a:br>
            <a:r>
              <a:rPr lang="en-US" dirty="0"/>
              <a:t>Z=</a:t>
            </a:r>
            <a:r>
              <a:rPr lang="en-US" dirty="0" err="1"/>
              <a:t>pd.DataFrame</a:t>
            </a:r>
            <a:r>
              <a:rPr lang="en-US" dirty="0"/>
              <a:t>(Z) #converting into data frame for ease</a:t>
            </a:r>
          </a:p>
          <a:p>
            <a:pPr marL="0" indent="0">
              <a:buNone/>
            </a:pPr>
            <a:r>
              <a:rPr lang="en-US" dirty="0"/>
              <a:t>#Plotting the data:</a:t>
            </a:r>
          </a:p>
          <a:p>
            <a:pPr marL="0" indent="0">
              <a:buNone/>
            </a:pPr>
            <a:r>
              <a:rPr lang="en-US" dirty="0" err="1"/>
              <a:t>sns.scatterplot</a:t>
            </a:r>
            <a:r>
              <a:rPr lang="en-US" dirty="0"/>
              <a:t>(Z[0],Z[1])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3B4B-36E0-40EA-BD24-5FA98D4B3C74}" type="slidenum">
              <a:rPr lang="en-SG" smtClean="0"/>
              <a:pPr/>
              <a:t>3</a:t>
            </a:fld>
            <a:endParaRPr lang="en-SG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BBEC90-14DF-2268-BB1E-EE3D526D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Silhouette Coefficient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Silhouette Coefficient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Applying </a:t>
            </a:r>
            <a:r>
              <a:rPr lang="en-US" b="1" dirty="0" err="1"/>
              <a:t>KMeans</a:t>
            </a:r>
            <a:r>
              <a:rPr lang="en-US" b="1" dirty="0"/>
              <a:t> Clustering with 2 clusters: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 err="1"/>
              <a:t>KMean</a:t>
            </a:r>
            <a:r>
              <a:rPr lang="en-US" dirty="0"/>
              <a:t>= </a:t>
            </a:r>
            <a:r>
              <a:rPr lang="en-US" dirty="0" err="1"/>
              <a:t>KMeans</a:t>
            </a:r>
            <a:r>
              <a:rPr lang="en-US" dirty="0"/>
              <a:t>(</a:t>
            </a:r>
            <a:r>
              <a:rPr lang="en-US" dirty="0" err="1"/>
              <a:t>n_clusters</a:t>
            </a:r>
            <a:r>
              <a:rPr lang="en-US" dirty="0"/>
              <a:t>=2)</a:t>
            </a:r>
            <a:br>
              <a:rPr lang="en-US" dirty="0"/>
            </a:br>
            <a:r>
              <a:rPr lang="en-US" dirty="0"/>
              <a:t>KMean.fit(Z)</a:t>
            </a:r>
            <a:br>
              <a:rPr lang="en-US" dirty="0"/>
            </a:br>
            <a:r>
              <a:rPr lang="en-US" dirty="0"/>
              <a:t>label=</a:t>
            </a:r>
            <a:r>
              <a:rPr lang="en-US" dirty="0" err="1"/>
              <a:t>KMean.predict</a:t>
            </a:r>
            <a:r>
              <a:rPr lang="en-US" dirty="0"/>
              <a:t>(Z)</a:t>
            </a:r>
          </a:p>
          <a:p>
            <a:pPr>
              <a:buNone/>
            </a:pPr>
            <a:r>
              <a:rPr lang="en-US" b="1" dirty="0"/>
              <a:t>Calculating the silhouette score:</a:t>
            </a:r>
          </a:p>
          <a:p>
            <a:pPr>
              <a:buNone/>
            </a:pPr>
            <a:r>
              <a:rPr lang="en-US" dirty="0"/>
              <a:t>print(</a:t>
            </a:r>
            <a:r>
              <a:rPr lang="en-US" dirty="0" err="1"/>
              <a:t>f'Silhouette</a:t>
            </a:r>
            <a:r>
              <a:rPr lang="en-US" dirty="0"/>
              <a:t> Score(n=2): {</a:t>
            </a:r>
            <a:r>
              <a:rPr lang="en-US" dirty="0" err="1"/>
              <a:t>silhouette_score</a:t>
            </a:r>
            <a:r>
              <a:rPr lang="en-US" dirty="0"/>
              <a:t>(Z, label)}')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US" dirty="0"/>
              <a:t>To check whether our silhouette score is providing the right information or not let’s create another scatter plot showing labelled data points.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 err="1"/>
              <a:t>sns.scatterplot</a:t>
            </a:r>
            <a:r>
              <a:rPr lang="en-US" dirty="0"/>
              <a:t>(Z[0],Z[1],hue=label)</a:t>
            </a:r>
          </a:p>
          <a:p>
            <a:pPr>
              <a:buNone/>
            </a:pPr>
            <a:r>
              <a:rPr lang="en-IN" b="1" dirty="0"/>
              <a:t>Try with 3 clusters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3B4B-36E0-40EA-BD24-5FA98D4B3C74}" type="slidenum">
              <a:rPr lang="en-SG" smtClean="0"/>
              <a:pPr/>
              <a:t>4</a:t>
            </a:fld>
            <a:endParaRPr lang="en-S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assessment methods (HW)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Davies Bouldin Index</a:t>
            </a:r>
          </a:p>
          <a:p>
            <a:r>
              <a:rPr lang="en-IN" dirty="0"/>
              <a:t>Dunn Index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93B4B-36E0-40EA-BD24-5FA98D4B3C74}" type="slidenum">
              <a:rPr lang="en-SG" smtClean="0"/>
              <a:pPr/>
              <a:t>5</a:t>
            </a:fld>
            <a:endParaRPr lang="en-S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BCC9-545B-3EDE-B4CD-86CE13474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287065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THANK YOU !</a:t>
            </a:r>
            <a:endParaRPr lang="en-IN" sz="4400" b="1" dirty="0">
              <a:solidFill>
                <a:schemeClr val="tx2"/>
              </a:solidFill>
            </a:endParaRPr>
          </a:p>
        </p:txBody>
      </p:sp>
      <p:pic>
        <p:nvPicPr>
          <p:cNvPr id="5" name="Golden-Hour-chosic.com_">
            <a:hlinkClick r:id="" action="ppaction://media"/>
            <a:extLst>
              <a:ext uri="{FF2B5EF4-FFF2-40B4-BE49-F238E27FC236}">
                <a16:creationId xmlns:a16="http://schemas.microsoft.com/office/drawing/2014/main" id="{3B011889-301A-5F19-78BC-EC172494EE2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91772.307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872686" y="6350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5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75E9-8B34-2FD9-F90B-1824F4FD5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3725"/>
            <a:ext cx="10515600" cy="57032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b="1" dirty="0"/>
              <a:t>Davies–Bouldin Index (DBI)</a:t>
            </a:r>
          </a:p>
          <a:p>
            <a:pPr marL="0" indent="0">
              <a:buNone/>
            </a:pPr>
            <a:r>
              <a:rPr lang="en-IN" sz="2300" dirty="0"/>
              <a:t>DBI = (1 / k) * </a:t>
            </a:r>
            <a:r>
              <a:rPr lang="el-GR" sz="2300" dirty="0"/>
              <a:t>Σ </a:t>
            </a:r>
            <a:r>
              <a:rPr lang="en-US" sz="2300" dirty="0"/>
              <a:t>[</a:t>
            </a:r>
            <a:r>
              <a:rPr lang="en-IN" sz="2300" dirty="0"/>
              <a:t>max(Si , </a:t>
            </a:r>
            <a:r>
              <a:rPr lang="en-IN" sz="2300" dirty="0" err="1"/>
              <a:t>Sj</a:t>
            </a:r>
            <a:r>
              <a:rPr lang="en-IN" sz="2300" dirty="0"/>
              <a:t>) / </a:t>
            </a:r>
            <a:r>
              <a:rPr lang="en-IN" sz="2300" dirty="0" err="1"/>
              <a:t>Mij</a:t>
            </a:r>
            <a:r>
              <a:rPr lang="en-IN" sz="2300" dirty="0"/>
              <a:t>] for </a:t>
            </a:r>
            <a:r>
              <a:rPr lang="en-IN" sz="2300" dirty="0" err="1"/>
              <a:t>i</a:t>
            </a:r>
            <a:r>
              <a:rPr lang="en-IN" sz="2300" dirty="0"/>
              <a:t> ≠ j Where:</a:t>
            </a:r>
          </a:p>
          <a:p>
            <a:pPr marL="0" indent="0">
              <a:buNone/>
            </a:pPr>
            <a:r>
              <a:rPr lang="en-IN" sz="2300" dirty="0"/>
              <a:t>k = number of clusters </a:t>
            </a:r>
          </a:p>
          <a:p>
            <a:pPr marL="0" indent="0">
              <a:buNone/>
            </a:pPr>
            <a:r>
              <a:rPr lang="en-IN" sz="2300" dirty="0"/>
              <a:t>Si = average distance of points in cluster </a:t>
            </a:r>
            <a:r>
              <a:rPr lang="en-IN" sz="2300" dirty="0" err="1"/>
              <a:t>i</a:t>
            </a:r>
            <a:r>
              <a:rPr lang="en-IN" sz="2300" dirty="0"/>
              <a:t> from its centroid </a:t>
            </a:r>
          </a:p>
          <a:p>
            <a:pPr marL="0" indent="0">
              <a:buNone/>
            </a:pPr>
            <a:r>
              <a:rPr lang="en-IN" sz="2300" dirty="0" err="1"/>
              <a:t>Sj</a:t>
            </a:r>
            <a:r>
              <a:rPr lang="en-IN" sz="2300" dirty="0"/>
              <a:t> = average distance of points in cluster j from its centroid </a:t>
            </a:r>
          </a:p>
          <a:p>
            <a:pPr marL="0" indent="0">
              <a:buNone/>
            </a:pPr>
            <a:r>
              <a:rPr lang="en-IN" sz="2300" dirty="0" err="1"/>
              <a:t>Mij</a:t>
            </a:r>
            <a:r>
              <a:rPr lang="en-IN" sz="2300" dirty="0"/>
              <a:t> = distance between centroids of cluster </a:t>
            </a:r>
            <a:r>
              <a:rPr lang="en-IN" sz="2300" dirty="0" err="1"/>
              <a:t>i</a:t>
            </a:r>
            <a:r>
              <a:rPr lang="en-IN" sz="2300" dirty="0"/>
              <a:t> and j </a:t>
            </a:r>
          </a:p>
          <a:p>
            <a:pPr marL="0" indent="0">
              <a:buNone/>
            </a:pPr>
            <a:endParaRPr lang="en-IN" sz="2300" b="1" dirty="0"/>
          </a:p>
          <a:p>
            <a:pPr marL="0" indent="0">
              <a:buNone/>
            </a:pPr>
            <a:r>
              <a:rPr lang="en-IN" sz="2300" b="1" dirty="0"/>
              <a:t>Dunn Index</a:t>
            </a:r>
          </a:p>
          <a:p>
            <a:pPr marL="0" indent="0">
              <a:buNone/>
            </a:pPr>
            <a:r>
              <a:rPr lang="en-IN" sz="2300" dirty="0"/>
              <a:t>Dunn Index = min d(Ci, </a:t>
            </a:r>
            <a:r>
              <a:rPr lang="en-IN" sz="2300" dirty="0" err="1"/>
              <a:t>Cj</a:t>
            </a:r>
            <a:r>
              <a:rPr lang="en-IN" sz="2300" dirty="0"/>
              <a:t>) / max </a:t>
            </a:r>
            <a:r>
              <a:rPr lang="el-GR" sz="2300" dirty="0"/>
              <a:t>δ(</a:t>
            </a:r>
            <a:r>
              <a:rPr lang="en-IN" sz="2300" dirty="0"/>
              <a:t>Ck) Where:</a:t>
            </a:r>
          </a:p>
          <a:p>
            <a:pPr marL="0" indent="0">
              <a:buNone/>
            </a:pPr>
            <a:r>
              <a:rPr lang="en-IN" sz="2300" dirty="0"/>
              <a:t>d(Ci, </a:t>
            </a:r>
            <a:r>
              <a:rPr lang="en-IN" sz="2300" dirty="0" err="1"/>
              <a:t>Cj</a:t>
            </a:r>
            <a:r>
              <a:rPr lang="en-IN" sz="2300" dirty="0"/>
              <a:t>) = distance between cluster </a:t>
            </a:r>
            <a:r>
              <a:rPr lang="en-IN" sz="2300" dirty="0" err="1"/>
              <a:t>i</a:t>
            </a:r>
            <a:r>
              <a:rPr lang="en-IN" sz="2300" dirty="0"/>
              <a:t> and j </a:t>
            </a:r>
          </a:p>
          <a:p>
            <a:pPr marL="0" indent="0">
              <a:buNone/>
            </a:pPr>
            <a:r>
              <a:rPr lang="el-GR" sz="2300" dirty="0"/>
              <a:t>δ(</a:t>
            </a:r>
            <a:r>
              <a:rPr lang="en-IN" sz="2300" dirty="0"/>
              <a:t>Ck) = diameter (max intra-cluster distance) of cluster k</a:t>
            </a:r>
            <a:endParaRPr lang="en-IN" sz="2300" b="1" dirty="0"/>
          </a:p>
          <a:p>
            <a:pPr marL="0" indent="0">
              <a:buNone/>
            </a:pPr>
            <a:r>
              <a:rPr lang="en-IN" sz="2300" dirty="0"/>
              <a:t>DBI → lower is better Dunn → higher is better</a:t>
            </a:r>
          </a:p>
        </p:txBody>
      </p:sp>
    </p:spTree>
    <p:extLst>
      <p:ext uri="{BB962C8B-B14F-4D97-AF65-F5344CB8AC3E}">
        <p14:creationId xmlns:p14="http://schemas.microsoft.com/office/powerpoint/2010/main" val="182639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503</Words>
  <Application>Microsoft Macintosh PowerPoint</Application>
  <PresentationFormat>Widescreen</PresentationFormat>
  <Paragraphs>50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Silhouette Coefficient</vt:lpstr>
      <vt:lpstr>Silhouette Coefficient</vt:lpstr>
      <vt:lpstr>Silhouette Coefficient</vt:lpstr>
      <vt:lpstr>Other assessment methods (HW)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Chirag Talwar</dc:creator>
  <cp:lastModifiedBy>Dr. Ankita Bhalla</cp:lastModifiedBy>
  <cp:revision>39</cp:revision>
  <dcterms:created xsi:type="dcterms:W3CDTF">2024-12-05T05:44:29Z</dcterms:created>
  <dcterms:modified xsi:type="dcterms:W3CDTF">2026-01-27T06:11:01Z</dcterms:modified>
</cp:coreProperties>
</file>